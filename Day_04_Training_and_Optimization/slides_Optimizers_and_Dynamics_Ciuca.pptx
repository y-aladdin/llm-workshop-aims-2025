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66f28b1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66f28b1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Plan for this lecture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Modern Llama3 LLM optimizers: we will see why each part of this schedule is useful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Gradient Descent, the naive visualizable way: this is not what happens in modern networks, Geoffrey Hinton quote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SGD, momentum, Adam, AdamW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Mysteries of training modern networks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Review of Hessians, Taylor-approximation second-order, and diagonalisation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Applications on simple quadratic function at given learning rate, proofs and graphs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Modern networks don’t converge to Minima!!! Even local ones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What does the hessian look like of modern transformers? Power-law spectrum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Why Is learning rate decay useful? A heuristic arguments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Learning rate warmups and decay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Weird Phenomena: Edge of Stability, narrowing valley visualization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66f28b1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66f28b1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66f28b1c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66f28b1c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66f28b1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66f28b1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6f28b1c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66f28b1c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66f28b1c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66f28b1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71aa083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71aa083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66f28b1c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66f28b1c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66f28b1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66f28b1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66f28b1c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66f28b1c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66f28b1c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66f28b1c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66f28b1c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66f28b1c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66f28b1c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66f28b1c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66f28b1c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66f28b1c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66f28b1c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66f28b1c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71aa08376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71aa08376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66f28b1c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66f28b1c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66f28b1c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66f28b1c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66f28b1c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66f28b1c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71aa08376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71aa08376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66f28b1c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66f28b1c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71aa0837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471aa0837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66f28b1c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66f28b1c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466f28b1c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466f28b1c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66f28b1c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66f28b1c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66f28b1c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66f28b1c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66f28b1c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66f28b1c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66f28b1c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66f28b1c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16436" l="10714" r="0" t="17687"/>
          <a:stretch/>
        </p:blipFill>
        <p:spPr>
          <a:xfrm>
            <a:off x="7494175" y="4484125"/>
            <a:ext cx="1398175" cy="5727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RazCiuca/nn_loss_landscap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pdf/2407.21783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hyperlink" Target="https://arxiv.org/pdf/1512.03385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hyperlink" Target="https://arxiv.org/pdf/2402.16788v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arxiv.org/pdf/2406.0940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Optimizers and Training Dynamics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142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Razvan Ciuca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363225"/>
            <a:ext cx="1618975" cy="6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136475" y="4279975"/>
            <a:ext cx="2922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Related blog post: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https://github.com/RazCiuca/nn_loss_landscape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today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924525" y="1775650"/>
            <a:ext cx="6926400" cy="21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53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95"/>
              <a:buAutoNum type="arabicPeriod"/>
            </a:pPr>
            <a:r>
              <a:rPr lang="en" sz="1495"/>
              <a:t>Understanding how modern LLMs are optimized during pre-training.</a:t>
            </a:r>
            <a:endParaRPr sz="1495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95"/>
          </a:p>
          <a:p>
            <a:pPr indent="-32353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95"/>
              <a:buAutoNum type="arabicPeriod"/>
            </a:pPr>
            <a:r>
              <a:rPr lang="en" sz="1495"/>
              <a:t>Going beyond the simple </a:t>
            </a:r>
            <a:r>
              <a:rPr lang="en" sz="1495"/>
              <a:t>mental picture of a ball rolling down a mountain.</a:t>
            </a:r>
            <a:endParaRPr sz="14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95"/>
          </a:p>
          <a:p>
            <a:pPr indent="-32353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95"/>
              <a:buAutoNum type="arabicPeriod"/>
            </a:pPr>
            <a:r>
              <a:rPr lang="en" sz="1495"/>
              <a:t>Building toy mathematical models of the optimization process </a:t>
            </a:r>
            <a:endParaRPr sz="14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77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Training: Llama 3: “Large Language Model Meta AI”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82050"/>
            <a:ext cx="8520600" cy="14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“We pre-train Llama 3 405B using AdamW with a peak learning rate of 8 × 10−5 , a linear warm up of 8,000 steps, and a cosine learning rate schedule decaying to 8 × 10−7 over 1,200,000 steps. “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Quote from Llama 3 paper: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https://arxiv.org/pdf/2407.21783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96825" y="3159350"/>
            <a:ext cx="64026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Who or what is AdamW 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How is the peak learning rate set 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Why is there a linear warm up 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Why is there a decay schedule 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Descent: The Naive Mental Picture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78550"/>
            <a:ext cx="3699051" cy="349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050" y="1078550"/>
            <a:ext cx="3856401" cy="333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visualize 10^12 dimensional landscapes?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034350" y="1694175"/>
            <a:ext cx="307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2"/>
                </a:solidFill>
              </a:rPr>
              <a:t>You Don’t</a:t>
            </a:r>
            <a:endParaRPr b="1" sz="45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680600" y="3202800"/>
            <a:ext cx="77589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“To visualize a 14 dimensional space, you image a 3D space and say “Fourteen!” to yourself very strongly”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Geoffrey Hinton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Gradient Descent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1407750" y="4580375"/>
            <a:ext cx="5946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From Bishop &amp; Bishop: Deep Learning Foundations and Concepts, 2023, Springer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250" y="1073975"/>
            <a:ext cx="4159889" cy="32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with Momentum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1407750" y="4580375"/>
            <a:ext cx="5946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From Bishop &amp; Bishop: Deep Learning Foundations and Concepts, 2022, Springer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625" y="1017725"/>
            <a:ext cx="3999149" cy="3562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with Nesterov Momentum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1407750" y="4580375"/>
            <a:ext cx="5946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From Bishop &amp; Bishop: Deep Learning Foundations and Concepts, 2022, Springer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625" y="1017725"/>
            <a:ext cx="3999149" cy="35626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>
            <a:endCxn id="108" idx="1"/>
          </p:cNvCxnSpPr>
          <p:nvPr/>
        </p:nvCxnSpPr>
        <p:spPr>
          <a:xfrm flipH="1" rot="10800000">
            <a:off x="3903550" y="2742300"/>
            <a:ext cx="667500" cy="2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20"/>
          <p:cNvSpPr txBox="1"/>
          <p:nvPr/>
        </p:nvSpPr>
        <p:spPr>
          <a:xfrm>
            <a:off x="4571050" y="2531400"/>
            <a:ext cx="1482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Evaluate Gradient at w + Δw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6574300" y="1364750"/>
            <a:ext cx="2457900" cy="2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When we enter an iteration, we already mostly know the momentum direction, so let’s use it.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with Nesterov Momentum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175" y="1448900"/>
            <a:ext cx="5713301" cy="14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 b="0" l="0" r="0" t="7715"/>
          <a:stretch/>
        </p:blipFill>
        <p:spPr>
          <a:xfrm>
            <a:off x="1238325" y="3667025"/>
            <a:ext cx="6179749" cy="9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3195300" y="3282725"/>
            <a:ext cx="1966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Better Guarantees!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773950" y="166200"/>
            <a:ext cx="3401100" cy="12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Adam: Adaptive Moments Estimation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2119475" y="4587700"/>
            <a:ext cx="4513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From Bishop &amp; Bishop: Deep Learning Foundations and Concepts, 2022, Springer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375" y="58700"/>
            <a:ext cx="3688650" cy="447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491625" y="1262050"/>
            <a:ext cx="4035600" cy="21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We Compute 2 Quantities: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Exponential moving average of gradients: same as momentum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Exponential moving average</a:t>
            </a:r>
            <a:r>
              <a:rPr lang="en" sz="1500">
                <a:solidFill>
                  <a:schemeClr val="dk2"/>
                </a:solidFill>
              </a:rPr>
              <a:t> of squared gradients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491625" y="3301825"/>
            <a:ext cx="39771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Then, element-wise normalization of the momentum vector by the EMA of squared gradients.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276275"/>
            <a:ext cx="40101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AdamW: Changing the Weight-Decay Behavior of Adam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2136975" y="4580350"/>
            <a:ext cx="4909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From Bishop &amp; Bishop: Deep Learning Foundations and Concepts, 2022, Springer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375" y="58700"/>
            <a:ext cx="3688650" cy="447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264150" y="1775650"/>
            <a:ext cx="2766300" cy="28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Weight Decay can be viewed as doing either: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Adding - αw to the gradient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Shrinking the weights by a factor of (1-α)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5" name="Google Shape;135;p23"/>
          <p:cNvCxnSpPr/>
          <p:nvPr/>
        </p:nvCxnSpPr>
        <p:spPr>
          <a:xfrm flipH="1" rot="10800000">
            <a:off x="2779200" y="2927750"/>
            <a:ext cx="4476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3"/>
          <p:cNvCxnSpPr/>
          <p:nvPr/>
        </p:nvCxnSpPr>
        <p:spPr>
          <a:xfrm flipH="1" rot="10800000">
            <a:off x="2779200" y="4122050"/>
            <a:ext cx="4476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3"/>
          <p:cNvSpPr txBox="1"/>
          <p:nvPr/>
        </p:nvSpPr>
        <p:spPr>
          <a:xfrm>
            <a:off x="3338550" y="2686950"/>
            <a:ext cx="11007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Adam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338563" y="3932600"/>
            <a:ext cx="11007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AdamW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9" name="Google Shape;139;p23"/>
          <p:cNvCxnSpPr/>
          <p:nvPr/>
        </p:nvCxnSpPr>
        <p:spPr>
          <a:xfrm>
            <a:off x="5811200" y="3426550"/>
            <a:ext cx="748500" cy="2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3"/>
          <p:cNvSpPr txBox="1"/>
          <p:nvPr/>
        </p:nvSpPr>
        <p:spPr>
          <a:xfrm>
            <a:off x="6743050" y="3580650"/>
            <a:ext cx="14823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Add shrinking step here to implement AdamW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Mysteries of Training Neural Networks #1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3738600" cy="32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Empirical Observations about NN training: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Halving the learning rate has the same effect as doubling the batch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Sudden learning rate decreases cause sudden loss drops</a:t>
            </a:r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525" y="1152475"/>
            <a:ext cx="4037176" cy="266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4754600" y="3947875"/>
            <a:ext cx="382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From He et. al. 2015: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https://arxiv.org/pdf/1512.03385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49" name="Google Shape;149;p24"/>
          <p:cNvCxnSpPr/>
          <p:nvPr/>
        </p:nvCxnSpPr>
        <p:spPr>
          <a:xfrm flipH="1">
            <a:off x="5840425" y="1144625"/>
            <a:ext cx="1034700" cy="5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4"/>
          <p:cNvCxnSpPr/>
          <p:nvPr/>
        </p:nvCxnSpPr>
        <p:spPr>
          <a:xfrm flipH="1">
            <a:off x="6735800" y="1232675"/>
            <a:ext cx="293400" cy="11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4"/>
          <p:cNvSpPr txBox="1"/>
          <p:nvPr/>
        </p:nvSpPr>
        <p:spPr>
          <a:xfrm>
            <a:off x="6882450" y="836450"/>
            <a:ext cx="1695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What happens here?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198100" y="4461125"/>
            <a:ext cx="716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“Ball going down a hill” mental model can’t make sense of this.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53" name="Google Shape;153;p24"/>
          <p:cNvCxnSpPr/>
          <p:nvPr/>
        </p:nvCxnSpPr>
        <p:spPr>
          <a:xfrm flipH="1">
            <a:off x="6152725" y="1449425"/>
            <a:ext cx="1027200" cy="7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Blazing Fast Linear Algebra Review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499" y="1878319"/>
            <a:ext cx="3893826" cy="2707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0" y="1878329"/>
            <a:ext cx="2772725" cy="4028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320050" y="1247375"/>
            <a:ext cx="42519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Any function (and in particular the loss landscape of a network) can be locally approximated to second order: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297100" y="2536002"/>
            <a:ext cx="4216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The matrix H is the “Hessian”, and it can be diagonalized:</a:t>
            </a:r>
            <a:endParaRPr sz="1200">
              <a:solidFill>
                <a:srgbClr val="595959"/>
              </a:solidFill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1350" y="3076482"/>
            <a:ext cx="1835925" cy="75359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297100" y="4299696"/>
            <a:ext cx="42978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The columns of Q are the </a:t>
            </a:r>
            <a:r>
              <a:rPr b="1" lang="en" sz="1200">
                <a:solidFill>
                  <a:srgbClr val="595959"/>
                </a:solidFill>
              </a:rPr>
              <a:t>Eigenvectors</a:t>
            </a:r>
            <a:r>
              <a:rPr lang="en" sz="1200">
                <a:solidFill>
                  <a:srgbClr val="595959"/>
                </a:solidFill>
              </a:rPr>
              <a:t> of H. The set of eigenvalues of H is called its “</a:t>
            </a:r>
            <a:r>
              <a:rPr b="1" lang="en" sz="1200">
                <a:solidFill>
                  <a:srgbClr val="595959"/>
                </a:solidFill>
              </a:rPr>
              <a:t>spectrum</a:t>
            </a:r>
            <a:r>
              <a:rPr lang="en" sz="1200">
                <a:solidFill>
                  <a:srgbClr val="595959"/>
                </a:solidFill>
              </a:rPr>
              <a:t>”.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539824" y="1410110"/>
            <a:ext cx="33375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Example of a function whose Hessian has one positive and one negative eigenvalue</a:t>
            </a:r>
            <a:endParaRPr sz="1200">
              <a:solidFill>
                <a:srgbClr val="595959"/>
              </a:solidFill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8800" y="1755863"/>
            <a:ext cx="1258594" cy="6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of independent quadratics is a good proxy model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4497800" y="1416625"/>
            <a:ext cx="3742200" cy="28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in the eigenbasis disentangles the optimization.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means understanding the 1-dimensional case can tell us something about the general case.</a:t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50" y="1328029"/>
            <a:ext cx="2772725" cy="402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600" y="1865132"/>
            <a:ext cx="1835925" cy="7535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6"/>
          <p:cNvCxnSpPr/>
          <p:nvPr/>
        </p:nvCxnSpPr>
        <p:spPr>
          <a:xfrm flipH="1">
            <a:off x="1658200" y="2752925"/>
            <a:ext cx="14700" cy="77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6"/>
          <p:cNvSpPr txBox="1"/>
          <p:nvPr/>
        </p:nvSpPr>
        <p:spPr>
          <a:xfrm>
            <a:off x="1893050" y="2811725"/>
            <a:ext cx="1672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Change Variables to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13" y="3564175"/>
            <a:ext cx="1941083" cy="7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206" y="3140525"/>
            <a:ext cx="875319" cy="3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Noise: SGD on Stochastic Quadratic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625" y="850100"/>
            <a:ext cx="4886676" cy="37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53838" y="1115913"/>
            <a:ext cx="28599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595959"/>
                </a:solidFill>
              </a:rPr>
              <a:t>Model: </a:t>
            </a:r>
            <a:r>
              <a:rPr lang="en" sz="1800">
                <a:solidFill>
                  <a:srgbClr val="595959"/>
                </a:solidFill>
              </a:rPr>
              <a:t>Treat the loss landscape as a quadratic with a noisy minimum location, of variance sigma^2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750" y="3125825"/>
            <a:ext cx="1006149" cy="4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7125" y="3623200"/>
            <a:ext cx="1755425" cy="49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2451575" y="2390438"/>
            <a:ext cx="16785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At Equilibrium, x_n is gaussian with the following variance: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197113"/>
            <a:ext cx="2142326" cy="2784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Quadratic: Suddenly Lowering learning rate</a:t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410900" y="1636225"/>
            <a:ext cx="3704100" cy="29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equation above gives us the expected function value at </a:t>
            </a:r>
            <a:r>
              <a:rPr lang="en"/>
              <a:t>equilibrium</a:t>
            </a:r>
            <a:r>
              <a:rPr lang="en"/>
              <a:t> under SGD.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have an almost linear dependence on the learning rate α, cutting it in half cuts the loss in half.</a:t>
            </a: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25" y="1303225"/>
            <a:ext cx="4972649" cy="311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75" y="1055125"/>
            <a:ext cx="1755425" cy="4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Quadratic: What happens with momentum?</a:t>
            </a:r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38" y="1700175"/>
            <a:ext cx="1755425" cy="4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49" y="2658658"/>
            <a:ext cx="1755425" cy="58514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311700" y="1223375"/>
            <a:ext cx="32283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Expected Loss at </a:t>
            </a:r>
            <a:r>
              <a:rPr lang="en" sz="1300">
                <a:solidFill>
                  <a:schemeClr val="dk2"/>
                </a:solidFill>
              </a:rPr>
              <a:t>equilibrium</a:t>
            </a:r>
            <a:r>
              <a:rPr lang="en" sz="1300">
                <a:solidFill>
                  <a:schemeClr val="dk2"/>
                </a:solidFill>
              </a:rPr>
              <a:t> with SGD: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311700" y="2197550"/>
            <a:ext cx="3736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Expected Loss at equilibrium with momentum: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 rotWithShape="1">
          <a:blip r:embed="rId5">
            <a:alphaModFix/>
          </a:blip>
          <a:srcRect b="0" l="5102" r="7979" t="6872"/>
          <a:stretch/>
        </p:blipFill>
        <p:spPr>
          <a:xfrm>
            <a:off x="3874125" y="1081700"/>
            <a:ext cx="5084800" cy="342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322850" y="3448575"/>
            <a:ext cx="3617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Momentum converges faster at the same learning rate, but at higher loss level than pure SGD!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Mysteries resolved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3738600" cy="32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Empirical Observations about NN training: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Halving the learning rate has the same effect as doubling the batch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Sudden learning rate decreases cause sudden loss drops</a:t>
            </a:r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425" y="1216550"/>
            <a:ext cx="1755425" cy="49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30"/>
          <p:cNvCxnSpPr/>
          <p:nvPr/>
        </p:nvCxnSpPr>
        <p:spPr>
          <a:xfrm flipH="1" rot="10800000">
            <a:off x="3998875" y="2340750"/>
            <a:ext cx="11445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0"/>
          <p:cNvSpPr txBox="1"/>
          <p:nvPr/>
        </p:nvSpPr>
        <p:spPr>
          <a:xfrm>
            <a:off x="5392975" y="2039800"/>
            <a:ext cx="29055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Doubling batch size reduces the gradient variance σ^2 in two.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218" name="Google Shape;218;p30"/>
          <p:cNvCxnSpPr/>
          <p:nvPr/>
        </p:nvCxnSpPr>
        <p:spPr>
          <a:xfrm flipH="1" rot="10800000">
            <a:off x="3999750" y="3322275"/>
            <a:ext cx="11445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30"/>
          <p:cNvSpPr txBox="1"/>
          <p:nvPr/>
        </p:nvSpPr>
        <p:spPr>
          <a:xfrm>
            <a:off x="5444325" y="3059675"/>
            <a:ext cx="256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Optimization settles quickly to a new equilibrium loss.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Tension between high LR and low LR</a:t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46182"/>
            <a:ext cx="3731199" cy="2544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880600" y="1318925"/>
            <a:ext cx="31623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Learning rate = 0.3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450" y="1946175"/>
            <a:ext cx="3816424" cy="2544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4686875" y="1282350"/>
            <a:ext cx="252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Learning rate = 30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9" name="Google Shape;229;p31"/>
          <p:cNvCxnSpPr>
            <a:endCxn id="230" idx="1"/>
          </p:cNvCxnSpPr>
          <p:nvPr/>
        </p:nvCxnSpPr>
        <p:spPr>
          <a:xfrm flipH="1" rot="10800000">
            <a:off x="7574675" y="2542350"/>
            <a:ext cx="543000" cy="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31"/>
          <p:cNvSpPr txBox="1"/>
          <p:nvPr/>
        </p:nvSpPr>
        <p:spPr>
          <a:xfrm>
            <a:off x="8117675" y="2098500"/>
            <a:ext cx="907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Blue goes off-screen after 1 iteration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decreasing the learning rate useful?</a:t>
            </a:r>
            <a:endParaRPr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311700" y="1152475"/>
            <a:ext cx="8520600" cy="34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need </a:t>
            </a:r>
            <a:r>
              <a:rPr b="1" lang="en"/>
              <a:t>High LR </a:t>
            </a:r>
            <a:r>
              <a:rPr lang="en"/>
              <a:t>to make meaningful progress along shallow directions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need </a:t>
            </a:r>
            <a:r>
              <a:rPr b="1" lang="en"/>
              <a:t>Low LR </a:t>
            </a:r>
            <a:r>
              <a:rPr lang="en"/>
              <a:t>to decrease the equilibrium loss along sharp directions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Solution</a:t>
            </a:r>
            <a:r>
              <a:rPr lang="en"/>
              <a:t>: slowly decrease the learning rate to 0 during training, starting from the </a:t>
            </a:r>
            <a:r>
              <a:rPr i="1" lang="en"/>
              <a:t>largest stable value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282350" y="357375"/>
            <a:ext cx="46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Adam’s adaptive learning rates</a:t>
            </a:r>
            <a:endParaRPr/>
          </a:p>
        </p:txBody>
      </p:sp>
      <p:sp>
        <p:nvSpPr>
          <p:cNvPr id="242" name="Google Shape;242;p33"/>
          <p:cNvSpPr txBox="1"/>
          <p:nvPr>
            <p:ph idx="1" type="body"/>
          </p:nvPr>
        </p:nvSpPr>
        <p:spPr>
          <a:xfrm>
            <a:off x="311700" y="1152475"/>
            <a:ext cx="4260300" cy="3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simple 1D case: when far from minimum, all gradients are aligned -&gt; Adam has a large learning rate.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close to minimum, high gradient variance: low learning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high dimensions this gets more complicated: Adam is not rotation invariant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Non-axis aligned directions of covariance will not be captured by the adaptation of learning rates</a:t>
            </a:r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450" y="45175"/>
            <a:ext cx="3661226" cy="23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843" y="2442150"/>
            <a:ext cx="2497582" cy="266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Eigenvalue Spectrum of the GPT2 Hessian</a:t>
            </a:r>
            <a:endParaRPr/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200"/>
            <a:ext cx="8839204" cy="74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50675"/>
            <a:ext cx="8839199" cy="4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2575400" y="2480025"/>
            <a:ext cx="3536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From Zhang et. al. 2024 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https://arxiv.org/pdf/2402.16788v4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682375" y="2802875"/>
            <a:ext cx="7021800" cy="1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Two Observations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Spectrum has a power-law structure: clustering around 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Negative Eigenvalues are present at end of training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/>
        </p:nvSpPr>
        <p:spPr>
          <a:xfrm>
            <a:off x="198100" y="454926"/>
            <a:ext cx="8553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Implications of a power-law spectrum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259737" y="3408347"/>
            <a:ext cx="37998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Hence: all eigenvalue scales are important! We can’t afford to throw away directions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200" y="910125"/>
            <a:ext cx="2171975" cy="35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/>
        </p:nvSpPr>
        <p:spPr>
          <a:xfrm>
            <a:off x="5302845" y="1206749"/>
            <a:ext cx="840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   x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5191191" y="2048990"/>
            <a:ext cx="840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10   x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073940" y="2891256"/>
            <a:ext cx="11919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100   x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4957245" y="3682698"/>
            <a:ext cx="1067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1000   x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912" y="1071179"/>
            <a:ext cx="1405577" cy="97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5"/>
          <p:cNvSpPr txBox="1"/>
          <p:nvPr/>
        </p:nvSpPr>
        <p:spPr>
          <a:xfrm>
            <a:off x="259737" y="1926618"/>
            <a:ext cx="38484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Assuming all directions have the same variance at initialization, then different scales contribute to the total loss equally.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Training Never Converges: negative eigenvalues even at end</a:t>
            </a:r>
            <a:endParaRPr sz="2420"/>
          </a:p>
        </p:txBody>
      </p:sp>
      <p:pic>
        <p:nvPicPr>
          <p:cNvPr id="272" name="Google Shape;272;p36"/>
          <p:cNvPicPr preferRelativeResize="0"/>
          <p:nvPr/>
        </p:nvPicPr>
        <p:blipFill rotWithShape="1">
          <a:blip r:embed="rId3">
            <a:alphaModFix/>
          </a:blip>
          <a:srcRect b="0" l="74810" r="0" t="0"/>
          <a:stretch/>
        </p:blipFill>
        <p:spPr>
          <a:xfrm>
            <a:off x="245647" y="1287525"/>
            <a:ext cx="4781199" cy="16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4">
            <a:alphaModFix/>
          </a:blip>
          <a:srcRect b="0" l="77383" r="0" t="0"/>
          <a:stretch/>
        </p:blipFill>
        <p:spPr>
          <a:xfrm>
            <a:off x="657550" y="2738500"/>
            <a:ext cx="4196977" cy="942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36"/>
          <p:cNvCxnSpPr/>
          <p:nvPr/>
        </p:nvCxnSpPr>
        <p:spPr>
          <a:xfrm flipH="1" rot="10800000">
            <a:off x="821775" y="2700250"/>
            <a:ext cx="337500" cy="115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6"/>
          <p:cNvSpPr txBox="1"/>
          <p:nvPr/>
        </p:nvSpPr>
        <p:spPr>
          <a:xfrm>
            <a:off x="381550" y="3954850"/>
            <a:ext cx="20544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Negative Values!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6" name="Google Shape;27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9650" y="1309500"/>
            <a:ext cx="3630600" cy="252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/>
          <p:nvPr/>
        </p:nvSpPr>
        <p:spPr>
          <a:xfrm>
            <a:off x="3103700" y="4035550"/>
            <a:ext cx="31404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If we had the compute budget to take more steps and get to a minimum: better to train a larger model. See scaling laws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the top eigenvalue: Power Method</a:t>
            </a:r>
            <a:endParaRPr/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311700" y="1152475"/>
            <a:ext cx="359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full Hessian is hard, but Hessian-Vector product is easy.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 find dominant eigenvalue: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Initialize random 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x to Hx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Normalize x to unit norm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Repeat from 2</a:t>
            </a:r>
            <a:endParaRPr/>
          </a:p>
        </p:txBody>
      </p:sp>
      <p:pic>
        <p:nvPicPr>
          <p:cNvPr id="284" name="Google Shape;2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000" y="1170125"/>
            <a:ext cx="4935599" cy="276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type="title"/>
          </p:nvPr>
        </p:nvSpPr>
        <p:spPr>
          <a:xfrm>
            <a:off x="311700" y="13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Mystery, the “Edge Of Stability”: Landscape gets sharper as we decrease the LR</a:t>
            </a:r>
            <a:endParaRPr/>
          </a:p>
        </p:txBody>
      </p:sp>
      <p:pic>
        <p:nvPicPr>
          <p:cNvPr id="290" name="Google Shape;290;p38"/>
          <p:cNvPicPr preferRelativeResize="0"/>
          <p:nvPr/>
        </p:nvPicPr>
        <p:blipFill rotWithShape="1">
          <a:blip r:embed="rId3">
            <a:alphaModFix/>
          </a:blip>
          <a:srcRect b="0" l="6764" r="5269" t="0"/>
          <a:stretch/>
        </p:blipFill>
        <p:spPr>
          <a:xfrm>
            <a:off x="1311600" y="1469475"/>
            <a:ext cx="5827274" cy="32849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 txBox="1"/>
          <p:nvPr/>
        </p:nvSpPr>
        <p:spPr>
          <a:xfrm>
            <a:off x="1925750" y="1054900"/>
            <a:ext cx="244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BLUE</a:t>
            </a:r>
            <a:r>
              <a:rPr lang="en" sz="1800">
                <a:solidFill>
                  <a:srgbClr val="595959"/>
                </a:solidFill>
              </a:rPr>
              <a:t>: training loss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4450300" y="1054900"/>
            <a:ext cx="26886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RED</a:t>
            </a:r>
            <a:r>
              <a:rPr lang="en" sz="1800">
                <a:solidFill>
                  <a:srgbClr val="595959"/>
                </a:solidFill>
              </a:rPr>
              <a:t>: largest Eigenvalue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293" name="Google Shape;293;p38"/>
          <p:cNvCxnSpPr/>
          <p:nvPr/>
        </p:nvCxnSpPr>
        <p:spPr>
          <a:xfrm>
            <a:off x="1895050" y="1868650"/>
            <a:ext cx="7800" cy="24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8"/>
          <p:cNvCxnSpPr/>
          <p:nvPr/>
        </p:nvCxnSpPr>
        <p:spPr>
          <a:xfrm>
            <a:off x="2845850" y="1872213"/>
            <a:ext cx="7800" cy="24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8"/>
          <p:cNvCxnSpPr/>
          <p:nvPr/>
        </p:nvCxnSpPr>
        <p:spPr>
          <a:xfrm>
            <a:off x="3796650" y="1912450"/>
            <a:ext cx="7800" cy="24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8"/>
          <p:cNvCxnSpPr/>
          <p:nvPr/>
        </p:nvCxnSpPr>
        <p:spPr>
          <a:xfrm>
            <a:off x="4747450" y="1868650"/>
            <a:ext cx="7800" cy="24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8"/>
          <p:cNvCxnSpPr/>
          <p:nvPr/>
        </p:nvCxnSpPr>
        <p:spPr>
          <a:xfrm>
            <a:off x="5698250" y="1868650"/>
            <a:ext cx="7800" cy="247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8" name="Google Shape;298;p38"/>
          <p:cNvSpPr txBox="1"/>
          <p:nvPr/>
        </p:nvSpPr>
        <p:spPr>
          <a:xfrm>
            <a:off x="3155050" y="4541825"/>
            <a:ext cx="24066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Resnet on CIFAR10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99" name="Google Shape;299;p38"/>
          <p:cNvCxnSpPr/>
          <p:nvPr/>
        </p:nvCxnSpPr>
        <p:spPr>
          <a:xfrm flipH="1" rot="10800000">
            <a:off x="5737825" y="2010375"/>
            <a:ext cx="1548300" cy="47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38"/>
          <p:cNvSpPr txBox="1"/>
          <p:nvPr/>
        </p:nvSpPr>
        <p:spPr>
          <a:xfrm>
            <a:off x="7317900" y="1775650"/>
            <a:ext cx="1702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Dotted lines are points at which LR was decreased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Landscapes are Stochastic Narrowing Valleys</a:t>
            </a:r>
            <a:endParaRPr/>
          </a:p>
        </p:txBody>
      </p:sp>
      <p:pic>
        <p:nvPicPr>
          <p:cNvPr id="306" name="Google Shape;3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550" y="1386775"/>
            <a:ext cx="5090899" cy="29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the learning rate warmup?</a:t>
            </a:r>
            <a:endParaRPr/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well understood, see Kalra &amp; Barksheli 2024</a:t>
            </a:r>
            <a:r>
              <a:rPr lang="en" u="sng">
                <a:solidFill>
                  <a:schemeClr val="hlink"/>
                </a:solidFill>
                <a:hlinkClick r:id="rId3"/>
              </a:rPr>
              <a:t> https://arxiv.org/pdf/2406.09405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Places the network in better-behaved regions of the landscape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build up to a higher initial stable LR than if we’d started at that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Warm-up schedules are mostly found through trial-and-error. A cosine schedule is popular.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Overall Picture of Deep Learning Optimization</a:t>
            </a:r>
            <a:endParaRPr/>
          </a:p>
        </p:txBody>
      </p:sp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311700" y="1408775"/>
            <a:ext cx="8520600" cy="31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Loss is approximately a sum of stochastic quadratics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Quadratics are </a:t>
            </a:r>
            <a:r>
              <a:rPr lang="en"/>
              <a:t>shallow</a:t>
            </a:r>
            <a:r>
              <a:rPr lang="en"/>
              <a:t>, some are sharp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more shallow directions than sharp, we can’t neglect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 equilibrium of SGD, the loss is roughly LR * Gradient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need high LR to optimise the shallow directions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Need low LR to settle into lower losses for the sharp directions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Hence: slowly decrease the learning rate, starting from high values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